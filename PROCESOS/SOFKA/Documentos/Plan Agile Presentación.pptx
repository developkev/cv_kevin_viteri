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7" r:id="rId3"/>
    <p:sldId id="269" r:id="rId4"/>
    <p:sldId id="270" r:id="rId5"/>
    <p:sldId id="271" r:id="rId6"/>
    <p:sldId id="272" r:id="rId7"/>
    <p:sldId id="273" r:id="rId8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900"/>
    <a:srgbClr val="77E8C7"/>
    <a:srgbClr val="3E006E"/>
    <a:srgbClr val="6A1B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445ACA-19F3-4D55-8863-71A2553B948B}" v="10" dt="2026-01-30T00:52:55.0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15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VITERI" userId="ac0751397c8beb23" providerId="LiveId" clId="{F557C7F0-56C6-45AA-A428-0A13CF95F1DD}"/>
    <pc:docChg chg="custSel modSld">
      <pc:chgData name="KEVIN VITERI" userId="ac0751397c8beb23" providerId="LiveId" clId="{F557C7F0-56C6-45AA-A428-0A13CF95F1DD}" dt="2026-02-12T02:16:59.638" v="16" actId="21"/>
      <pc:docMkLst>
        <pc:docMk/>
      </pc:docMkLst>
      <pc:sldChg chg="delSp modSp mod">
        <pc:chgData name="KEVIN VITERI" userId="ac0751397c8beb23" providerId="LiveId" clId="{F557C7F0-56C6-45AA-A428-0A13CF95F1DD}" dt="2026-02-12T02:16:42.181" v="10" actId="21"/>
        <pc:sldMkLst>
          <pc:docMk/>
          <pc:sldMk cId="0" sldId="256"/>
        </pc:sldMkLst>
        <pc:spChg chg="mod">
          <ac:chgData name="KEVIN VITERI" userId="ac0751397c8beb23" providerId="LiveId" clId="{F557C7F0-56C6-45AA-A428-0A13CF95F1DD}" dt="2026-01-30T00:52:55.029" v="9" actId="20577"/>
          <ac:spMkLst>
            <pc:docMk/>
            <pc:sldMk cId="0" sldId="256"/>
            <ac:spMk id="42" creationId="{00000000-0000-0000-0000-000000000000}"/>
          </ac:spMkLst>
        </pc:spChg>
        <pc:picChg chg="del">
          <ac:chgData name="KEVIN VITERI" userId="ac0751397c8beb23" providerId="LiveId" clId="{F557C7F0-56C6-45AA-A428-0A13CF95F1DD}" dt="2026-02-12T02:16:42.181" v="10" actId="21"/>
          <ac:picMkLst>
            <pc:docMk/>
            <pc:sldMk cId="0" sldId="256"/>
            <ac:picMk id="45" creationId="{00000000-0000-0000-0000-000000000000}"/>
          </ac:picMkLst>
        </pc:picChg>
      </pc:sldChg>
      <pc:sldChg chg="delSp mod">
        <pc:chgData name="KEVIN VITERI" userId="ac0751397c8beb23" providerId="LiveId" clId="{F557C7F0-56C6-45AA-A428-0A13CF95F1DD}" dt="2026-02-12T02:16:45.148" v="11" actId="21"/>
        <pc:sldMkLst>
          <pc:docMk/>
          <pc:sldMk cId="0" sldId="267"/>
        </pc:sldMkLst>
        <pc:picChg chg="del">
          <ac:chgData name="KEVIN VITERI" userId="ac0751397c8beb23" providerId="LiveId" clId="{F557C7F0-56C6-45AA-A428-0A13CF95F1DD}" dt="2026-02-12T02:16:45.148" v="11" actId="21"/>
          <ac:picMkLst>
            <pc:docMk/>
            <pc:sldMk cId="0" sldId="267"/>
            <ac:picMk id="5" creationId="{00000000-0000-0000-0000-000000000000}"/>
          </ac:picMkLst>
        </pc:picChg>
      </pc:sldChg>
      <pc:sldChg chg="delSp mod">
        <pc:chgData name="KEVIN VITERI" userId="ac0751397c8beb23" providerId="LiveId" clId="{F557C7F0-56C6-45AA-A428-0A13CF95F1DD}" dt="2026-02-12T02:16:47.438" v="12" actId="21"/>
        <pc:sldMkLst>
          <pc:docMk/>
          <pc:sldMk cId="0" sldId="269"/>
        </pc:sldMkLst>
        <pc:picChg chg="del">
          <ac:chgData name="KEVIN VITERI" userId="ac0751397c8beb23" providerId="LiveId" clId="{F557C7F0-56C6-45AA-A428-0A13CF95F1DD}" dt="2026-02-12T02:16:47.438" v="12" actId="21"/>
          <ac:picMkLst>
            <pc:docMk/>
            <pc:sldMk cId="0" sldId="269"/>
            <ac:picMk id="3" creationId="{00000000-0000-0000-0000-000000000000}"/>
          </ac:picMkLst>
        </pc:picChg>
      </pc:sldChg>
      <pc:sldChg chg="delSp mod">
        <pc:chgData name="KEVIN VITERI" userId="ac0751397c8beb23" providerId="LiveId" clId="{F557C7F0-56C6-45AA-A428-0A13CF95F1DD}" dt="2026-02-12T02:16:50.247" v="13" actId="21"/>
        <pc:sldMkLst>
          <pc:docMk/>
          <pc:sldMk cId="0" sldId="270"/>
        </pc:sldMkLst>
        <pc:picChg chg="del">
          <ac:chgData name="KEVIN VITERI" userId="ac0751397c8beb23" providerId="LiveId" clId="{F557C7F0-56C6-45AA-A428-0A13CF95F1DD}" dt="2026-02-12T02:16:50.247" v="13" actId="21"/>
          <ac:picMkLst>
            <pc:docMk/>
            <pc:sldMk cId="0" sldId="270"/>
            <ac:picMk id="3" creationId="{00000000-0000-0000-0000-000000000000}"/>
          </ac:picMkLst>
        </pc:picChg>
      </pc:sldChg>
      <pc:sldChg chg="delSp mod">
        <pc:chgData name="KEVIN VITERI" userId="ac0751397c8beb23" providerId="LiveId" clId="{F557C7F0-56C6-45AA-A428-0A13CF95F1DD}" dt="2026-02-12T02:16:59.638" v="16" actId="21"/>
        <pc:sldMkLst>
          <pc:docMk/>
          <pc:sldMk cId="0" sldId="271"/>
        </pc:sldMkLst>
        <pc:picChg chg="del">
          <ac:chgData name="KEVIN VITERI" userId="ac0751397c8beb23" providerId="LiveId" clId="{F557C7F0-56C6-45AA-A428-0A13CF95F1DD}" dt="2026-02-12T02:16:59.638" v="16" actId="21"/>
          <ac:picMkLst>
            <pc:docMk/>
            <pc:sldMk cId="0" sldId="271"/>
            <ac:picMk id="3" creationId="{00000000-0000-0000-0000-000000000000}"/>
          </ac:picMkLst>
        </pc:picChg>
      </pc:sldChg>
      <pc:sldChg chg="delSp mod">
        <pc:chgData name="KEVIN VITERI" userId="ac0751397c8beb23" providerId="LiveId" clId="{F557C7F0-56C6-45AA-A428-0A13CF95F1DD}" dt="2026-02-12T02:16:56.569" v="15" actId="21"/>
        <pc:sldMkLst>
          <pc:docMk/>
          <pc:sldMk cId="0" sldId="272"/>
        </pc:sldMkLst>
        <pc:picChg chg="del">
          <ac:chgData name="KEVIN VITERI" userId="ac0751397c8beb23" providerId="LiveId" clId="{F557C7F0-56C6-45AA-A428-0A13CF95F1DD}" dt="2026-02-12T02:16:56.569" v="15" actId="21"/>
          <ac:picMkLst>
            <pc:docMk/>
            <pc:sldMk cId="0" sldId="272"/>
            <ac:picMk id="4" creationId="{00000000-0000-0000-0000-000000000000}"/>
          </ac:picMkLst>
        </pc:picChg>
      </pc:sldChg>
      <pc:sldChg chg="delSp mod">
        <pc:chgData name="KEVIN VITERI" userId="ac0751397c8beb23" providerId="LiveId" clId="{F557C7F0-56C6-45AA-A428-0A13CF95F1DD}" dt="2026-02-12T02:16:53.621" v="14" actId="21"/>
        <pc:sldMkLst>
          <pc:docMk/>
          <pc:sldMk cId="0" sldId="273"/>
        </pc:sldMkLst>
        <pc:picChg chg="del">
          <ac:chgData name="KEVIN VITERI" userId="ac0751397c8beb23" providerId="LiveId" clId="{F557C7F0-56C6-45AA-A428-0A13CF95F1DD}" dt="2026-02-12T02:16:53.621" v="14" actId="21"/>
          <ac:picMkLst>
            <pc:docMk/>
            <pc:sldMk cId="0" sldId="273"/>
            <ac:picMk id="4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8F70B-55F6-43DF-B862-455F3DFA7489}" type="datetimeFigureOut">
              <a:rPr lang="es-EC" smtClean="0"/>
              <a:t>11/2/2026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1121-4840-43E8-A24B-5BCF7AF72C6D}" type="slidenum">
              <a:rPr lang="es-EC" smtClean="0"/>
              <a:t>‹Nº›</a:t>
            </a:fld>
            <a:endParaRPr lang="es-EC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8F70B-55F6-43DF-B862-455F3DFA7489}" type="datetimeFigureOut">
              <a:rPr lang="es-EC" smtClean="0"/>
              <a:t>11/2/2026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1121-4840-43E8-A24B-5BCF7AF72C6D}" type="slidenum">
              <a:rPr lang="es-EC" smtClean="0"/>
              <a:t>‹Nº›</a:t>
            </a:fld>
            <a:endParaRPr lang="es-EC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8F70B-55F6-43DF-B862-455F3DFA7489}" type="datetimeFigureOut">
              <a:rPr lang="es-EC" smtClean="0"/>
              <a:t>11/2/2026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1121-4840-43E8-A24B-5BCF7AF72C6D}" type="slidenum">
              <a:rPr lang="es-EC" smtClean="0"/>
              <a:t>‹Nº›</a:t>
            </a:fld>
            <a:endParaRPr lang="es-EC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8F70B-55F6-43DF-B862-455F3DFA7489}" type="datetimeFigureOut">
              <a:rPr lang="es-EC" smtClean="0"/>
              <a:t>11/2/2026</a:t>
            </a:fld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1121-4840-43E8-A24B-5BCF7AF72C6D}" type="slidenum">
              <a:rPr lang="es-EC" smtClean="0"/>
              <a:t>‹Nº›</a:t>
            </a:fld>
            <a:endParaRPr lang="es-EC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8F70B-55F6-43DF-B862-455F3DFA7489}" type="datetimeFigureOut">
              <a:rPr lang="es-EC" smtClean="0"/>
              <a:t>11/2/2026</a:t>
            </a:fld>
            <a:endParaRPr lang="es-EC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1121-4840-43E8-A24B-5BCF7AF72C6D}" type="slidenum">
              <a:rPr lang="es-EC" smtClean="0"/>
              <a:t>‹Nº›</a:t>
            </a:fld>
            <a:endParaRPr lang="es-EC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8F70B-55F6-43DF-B862-455F3DFA7489}" type="datetimeFigureOut">
              <a:rPr lang="es-EC" smtClean="0"/>
              <a:t>11/2/2026</a:t>
            </a:fld>
            <a:endParaRPr lang="es-EC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1121-4840-43E8-A24B-5BCF7AF72C6D}" type="slidenum">
              <a:rPr lang="es-EC" smtClean="0"/>
              <a:t>‹Nº›</a:t>
            </a:fld>
            <a:endParaRPr lang="es-EC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8F70B-55F6-43DF-B862-455F3DFA7489}" type="datetimeFigureOut">
              <a:rPr lang="es-EC" smtClean="0"/>
              <a:t>11/2/2026</a:t>
            </a:fld>
            <a:endParaRPr lang="es-EC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1121-4840-43E8-A24B-5BCF7AF72C6D}" type="slidenum">
              <a:rPr lang="es-EC" smtClean="0"/>
              <a:t>‹Nº›</a:t>
            </a:fld>
            <a:endParaRPr lang="es-EC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8F70B-55F6-43DF-B862-455F3DFA7489}" type="datetimeFigureOut">
              <a:rPr lang="es-EC" smtClean="0"/>
              <a:t>11/2/2026</a:t>
            </a:fld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1121-4840-43E8-A24B-5BCF7AF72C6D}" type="slidenum">
              <a:rPr lang="es-EC" smtClean="0"/>
              <a:t>‹Nº›</a:t>
            </a:fld>
            <a:endParaRPr lang="es-EC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8F70B-55F6-43DF-B862-455F3DFA7489}" type="datetimeFigureOut">
              <a:rPr lang="es-EC" smtClean="0"/>
              <a:t>11/2/2026</a:t>
            </a:fld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1121-4840-43E8-A24B-5BCF7AF72C6D}" type="slidenum">
              <a:rPr lang="es-EC" smtClean="0"/>
              <a:t>‹Nº›</a:t>
            </a:fld>
            <a:endParaRPr lang="es-EC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8F70B-55F6-43DF-B862-455F3DFA7489}" type="datetimeFigureOut">
              <a:rPr lang="es-EC" smtClean="0"/>
              <a:t>11/2/2026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1121-4840-43E8-A24B-5BCF7AF72C6D}" type="slidenum">
              <a:rPr lang="es-EC" smtClean="0"/>
              <a:t>‹Nº›</a:t>
            </a:fld>
            <a:endParaRPr lang="es-EC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8F70B-55F6-43DF-B862-455F3DFA7489}" type="datetimeFigureOut">
              <a:rPr lang="es-EC" smtClean="0"/>
              <a:t>11/2/2026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1121-4840-43E8-A24B-5BCF7AF72C6D}" type="slidenum">
              <a:rPr lang="es-EC" smtClean="0"/>
              <a:t>‹Nº›</a:t>
            </a:fld>
            <a:endParaRPr lang="es-EC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98F70B-55F6-43DF-B862-455F3DFA7489}" type="datetimeFigureOut">
              <a:rPr lang="es-EC" smtClean="0"/>
              <a:t>11/2/2026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211121-4840-43E8-A24B-5BCF7AF72C6D}" type="slidenum">
              <a:rPr lang="es-EC" smtClean="0"/>
              <a:t>‹Nº›</a:t>
            </a:fld>
            <a:endParaRPr lang="es-EC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microsoft.com/office/2007/relationships/hdphoto" Target="../media/hdphoto1.wdp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12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12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12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12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12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12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36" y="2670597"/>
            <a:ext cx="1720683" cy="1720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Rectángulo: esquinas redondeadas 43"/>
          <p:cNvSpPr/>
          <p:nvPr/>
        </p:nvSpPr>
        <p:spPr>
          <a:xfrm>
            <a:off x="3831982" y="5333939"/>
            <a:ext cx="7998068" cy="1171743"/>
          </a:xfrm>
          <a:prstGeom prst="roundRect">
            <a:avLst/>
          </a:prstGeom>
          <a:solidFill>
            <a:srgbClr val="77E8C7">
              <a:alpha val="5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5" name="Rectángulo: esquinas redondeadas 24"/>
          <p:cNvSpPr/>
          <p:nvPr/>
        </p:nvSpPr>
        <p:spPr>
          <a:xfrm>
            <a:off x="6096000" y="1397773"/>
            <a:ext cx="6597112" cy="3549740"/>
          </a:xfrm>
          <a:prstGeom prst="roundRect">
            <a:avLst/>
          </a:prstGeom>
          <a:solidFill>
            <a:srgbClr val="77E8C7">
              <a:alpha val="5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4" name="Rectángulo: esquinas redondeadas 23"/>
          <p:cNvSpPr/>
          <p:nvPr/>
        </p:nvSpPr>
        <p:spPr>
          <a:xfrm>
            <a:off x="5362413" y="588935"/>
            <a:ext cx="7485682" cy="1321553"/>
          </a:xfrm>
          <a:prstGeom prst="roundRect">
            <a:avLst>
              <a:gd name="adj" fmla="val 50000"/>
            </a:avLst>
          </a:prstGeom>
          <a:solidFill>
            <a:srgbClr val="3E006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6" name="Círculo: vacío 1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831983" y="107451"/>
            <a:ext cx="7663966" cy="6846642"/>
          </a:xfrm>
          <a:prstGeom prst="donut">
            <a:avLst/>
          </a:prstGeom>
          <a:solidFill>
            <a:srgbClr val="6A1B9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17" name="Arco de bloque 16"/>
          <p:cNvSpPr/>
          <p:nvPr/>
        </p:nvSpPr>
        <p:spPr>
          <a:xfrm>
            <a:off x="-3831983" y="118809"/>
            <a:ext cx="7663966" cy="6846642"/>
          </a:xfrm>
          <a:prstGeom prst="blockArc">
            <a:avLst>
              <a:gd name="adj1" fmla="val 16062007"/>
              <a:gd name="adj2" fmla="val 17927966"/>
              <a:gd name="adj3" fmla="val 26761"/>
            </a:avLst>
          </a:prstGeom>
          <a:solidFill>
            <a:srgbClr val="77E8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18" name="Elipse 17"/>
          <p:cNvSpPr/>
          <p:nvPr/>
        </p:nvSpPr>
        <p:spPr>
          <a:xfrm>
            <a:off x="5005953" y="542439"/>
            <a:ext cx="1596325" cy="1461037"/>
          </a:xfrm>
          <a:prstGeom prst="ellipse">
            <a:avLst/>
          </a:prstGeom>
          <a:gradFill>
            <a:gsLst>
              <a:gs pos="0">
                <a:srgbClr val="3E006E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15" name="Imagen 14" descr="Imagen que contiene Gráfico radial&#10;&#10;El contenido generado por IA puede ser incorrecto.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5615" y="249524"/>
            <a:ext cx="1404494" cy="1411070"/>
          </a:xfrm>
          <a:prstGeom prst="rect">
            <a:avLst/>
          </a:prstGeom>
        </p:spPr>
      </p:pic>
      <p:pic>
        <p:nvPicPr>
          <p:cNvPr id="27" name="Imagen 26" descr="Forma, Círculo&#10;&#10;El contenido generado por IA puede ser incorrecto.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099" y="889878"/>
            <a:ext cx="914400" cy="914400"/>
          </a:xfrm>
          <a:prstGeom prst="rect">
            <a:avLst/>
          </a:prstGeom>
        </p:spPr>
      </p:pic>
      <p:pic>
        <p:nvPicPr>
          <p:cNvPr id="29" name="Imagen 28" descr="Dibujo en blanco y negro&#10;&#10;El contenido generado por IA puede ser incorrecto.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929" y="1866932"/>
            <a:ext cx="914401" cy="914401"/>
          </a:xfrm>
          <a:prstGeom prst="rect">
            <a:avLst/>
          </a:prstGeom>
        </p:spPr>
      </p:pic>
      <p:pic>
        <p:nvPicPr>
          <p:cNvPr id="31" name="Imagen 30" descr="Forma&#10;&#10;El contenido generado por IA puede ser incorrecto.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4979" y="3016206"/>
            <a:ext cx="914401" cy="914401"/>
          </a:xfrm>
          <a:prstGeom prst="rect">
            <a:avLst/>
          </a:prstGeom>
        </p:spPr>
      </p:pic>
      <p:pic>
        <p:nvPicPr>
          <p:cNvPr id="33" name="Imagen 32" descr="Forma&#10;&#10;El contenido generado por IA puede ser incorrecto.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7780" y="4032880"/>
            <a:ext cx="976136" cy="961127"/>
          </a:xfrm>
          <a:prstGeom prst="rect">
            <a:avLst/>
          </a:prstGeom>
        </p:spPr>
      </p:pic>
      <p:pic>
        <p:nvPicPr>
          <p:cNvPr id="37" name="Gráfico 36" descr="Gráfico de barras con tendencia alcista con relleno sólido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08878" y="5142330"/>
            <a:ext cx="914400" cy="914400"/>
          </a:xfrm>
          <a:prstGeom prst="rect">
            <a:avLst/>
          </a:prstGeom>
        </p:spPr>
      </p:pic>
      <p:pic>
        <p:nvPicPr>
          <p:cNvPr id="39" name="Gráfico 38" descr="Apretón de manos con relleno sólido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136" y="5599530"/>
            <a:ext cx="914400" cy="914400"/>
          </a:xfrm>
          <a:prstGeom prst="rect">
            <a:avLst/>
          </a:prstGeom>
        </p:spPr>
      </p:pic>
      <p:sp>
        <p:nvSpPr>
          <p:cNvPr id="40" name="Rectángulo 39"/>
          <p:cNvSpPr/>
          <p:nvPr/>
        </p:nvSpPr>
        <p:spPr>
          <a:xfrm>
            <a:off x="5335076" y="788046"/>
            <a:ext cx="93807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dirty="0">
                <a:solidFill>
                  <a:srgbClr val="FF7900"/>
                </a:solidFill>
              </a:rPr>
              <a:t>01</a:t>
            </a:r>
          </a:p>
        </p:txBody>
      </p:sp>
      <p:sp>
        <p:nvSpPr>
          <p:cNvPr id="41" name="Rectángulo 40"/>
          <p:cNvSpPr/>
          <p:nvPr/>
        </p:nvSpPr>
        <p:spPr>
          <a:xfrm>
            <a:off x="6704954" y="811292"/>
            <a:ext cx="455022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dirty="0">
                <a:solidFill>
                  <a:srgbClr val="FF7900"/>
                </a:solidFill>
              </a:rPr>
              <a:t>Brújula digital</a:t>
            </a:r>
          </a:p>
        </p:txBody>
      </p:sp>
      <p:sp>
        <p:nvSpPr>
          <p:cNvPr id="42" name="CuadroTexto 41"/>
          <p:cNvSpPr txBox="1"/>
          <p:nvPr/>
        </p:nvSpPr>
        <p:spPr>
          <a:xfrm>
            <a:off x="6442075" y="1978660"/>
            <a:ext cx="5295900" cy="30149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s-ES" sz="2000" dirty="0"/>
              <a:t>Iniciamos la travesía de Pagos Offline con un propósito claro: orquestar el próximo gran hito de </a:t>
            </a:r>
            <a:r>
              <a:rPr lang="es-ES" sz="2000" b="1" dirty="0" err="1"/>
              <a:t>deuna</a:t>
            </a:r>
            <a:r>
              <a:rPr lang="es-ES" sz="2000" b="1" dirty="0"/>
              <a:t>!</a:t>
            </a:r>
            <a:r>
              <a:rPr lang="es-ES" sz="2000" dirty="0"/>
              <a:t>. Nuestra misión es diseñar la estrategia precisa, que sincronice a cada equipo y  potencie siempre la agilidad </a:t>
            </a:r>
            <a:r>
              <a:rPr lang="es-ES" sz="2000"/>
              <a:t>en nuestros  proyectos, </a:t>
            </a:r>
            <a:r>
              <a:rPr lang="es-ES" sz="2000" dirty="0"/>
              <a:t>para convertir este desafío en un gran éxito de innovación en el mercado.</a:t>
            </a:r>
            <a:endParaRPr lang="es-E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ectángulo 42"/>
          <p:cNvSpPr/>
          <p:nvPr/>
        </p:nvSpPr>
        <p:spPr>
          <a:xfrm>
            <a:off x="4085239" y="5411978"/>
            <a:ext cx="7273725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2400" dirty="0">
                <a:latin typeface="+mj-lt"/>
                <a:cs typeface="Times New Roman" panose="02020603050405020304" pitchFamily="18" charset="0"/>
              </a:rPr>
              <a:t>“No es solo lanzar una función, es garantizar que el usuario pague en cualquier lugar, siempre.”</a:t>
            </a:r>
            <a:endParaRPr lang="es-EC" sz="2400" dirty="0">
              <a:latin typeface="+mj-lt"/>
              <a:cs typeface="Times New Roman" panose="02020603050405020304" pitchFamily="18" charset="0"/>
            </a:endParaRPr>
          </a:p>
          <a:p>
            <a:pPr algn="ctr"/>
            <a:r>
              <a:rPr lang="es-ES" sz="2400" b="1" dirty="0">
                <a:latin typeface="+mj-lt"/>
                <a:cs typeface="Times New Roman" panose="02020603050405020304" pitchFamily="18" charset="0"/>
              </a:rPr>
              <a:t> Kevin Viteri</a:t>
            </a:r>
          </a:p>
        </p:txBody>
      </p:sp>
      <p:pic>
        <p:nvPicPr>
          <p:cNvPr id="1031" name="Picture 7" descr="Más beneficios sin ir al banco y sin usar efectivo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2877" y="1982555"/>
            <a:ext cx="2424303" cy="3414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2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11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1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10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0" grpId="1"/>
      <p:bldP spid="41" grpId="0"/>
      <p:bldP spid="41" grpId="1"/>
      <p:bldP spid="42" grpId="0"/>
      <p:bldP spid="42" grpId="1"/>
      <p:bldP spid="43" grpId="0"/>
      <p:bldP spid="4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: esquinas redondeadas 24"/>
          <p:cNvSpPr/>
          <p:nvPr/>
        </p:nvSpPr>
        <p:spPr>
          <a:xfrm>
            <a:off x="6096000" y="1397772"/>
            <a:ext cx="6597112" cy="4648935"/>
          </a:xfrm>
          <a:prstGeom prst="roundRect">
            <a:avLst/>
          </a:prstGeom>
          <a:solidFill>
            <a:srgbClr val="77E8C7">
              <a:alpha val="5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4" name="Rectángulo: esquinas redondeadas 23"/>
          <p:cNvSpPr/>
          <p:nvPr/>
        </p:nvSpPr>
        <p:spPr>
          <a:xfrm>
            <a:off x="5362413" y="588935"/>
            <a:ext cx="7485682" cy="1321553"/>
          </a:xfrm>
          <a:prstGeom prst="roundRect">
            <a:avLst>
              <a:gd name="adj" fmla="val 50000"/>
            </a:avLst>
          </a:prstGeom>
          <a:solidFill>
            <a:srgbClr val="3E006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6" name="Círculo: vacío 1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831983" y="107451"/>
            <a:ext cx="7663966" cy="6846642"/>
          </a:xfrm>
          <a:prstGeom prst="donut">
            <a:avLst/>
          </a:prstGeom>
          <a:solidFill>
            <a:srgbClr val="6A1B9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17" name="Arco de bloque 16"/>
          <p:cNvSpPr/>
          <p:nvPr/>
        </p:nvSpPr>
        <p:spPr>
          <a:xfrm>
            <a:off x="-3831983" y="118809"/>
            <a:ext cx="7663966" cy="6846642"/>
          </a:xfrm>
          <a:prstGeom prst="blockArc">
            <a:avLst>
              <a:gd name="adj1" fmla="val 17738199"/>
              <a:gd name="adj2" fmla="val 19572276"/>
              <a:gd name="adj3" fmla="val 26656"/>
            </a:avLst>
          </a:prstGeom>
          <a:solidFill>
            <a:srgbClr val="77E8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18" name="Elipse 17"/>
          <p:cNvSpPr/>
          <p:nvPr/>
        </p:nvSpPr>
        <p:spPr>
          <a:xfrm>
            <a:off x="5005953" y="542439"/>
            <a:ext cx="1596325" cy="1461037"/>
          </a:xfrm>
          <a:prstGeom prst="ellipse">
            <a:avLst/>
          </a:prstGeom>
          <a:gradFill>
            <a:gsLst>
              <a:gs pos="0">
                <a:srgbClr val="3E006E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15" name="Imagen 14" descr="Imagen que contiene Gráfico radial&#10;&#10;El contenido generado por IA puede ser incorrecto.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25" y="259969"/>
            <a:ext cx="1142898" cy="1148249"/>
          </a:xfrm>
          <a:prstGeom prst="rect">
            <a:avLst/>
          </a:prstGeom>
        </p:spPr>
      </p:pic>
      <p:pic>
        <p:nvPicPr>
          <p:cNvPr id="27" name="Imagen 26" descr="Forma, Círculo&#10;&#10;El contenido generado por IA puede ser incorrecto.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423" y="787202"/>
            <a:ext cx="1216274" cy="1216274"/>
          </a:xfrm>
          <a:prstGeom prst="rect">
            <a:avLst/>
          </a:prstGeom>
        </p:spPr>
      </p:pic>
      <p:pic>
        <p:nvPicPr>
          <p:cNvPr id="29" name="Imagen 28" descr="Dibujo en blanco y negro&#10;&#10;El contenido generado por IA puede ser incorrecto.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8778" y="1866931"/>
            <a:ext cx="914401" cy="914401"/>
          </a:xfrm>
          <a:prstGeom prst="rect">
            <a:avLst/>
          </a:prstGeom>
        </p:spPr>
      </p:pic>
      <p:pic>
        <p:nvPicPr>
          <p:cNvPr id="31" name="Imagen 30" descr="Forma&#10;&#10;El contenido generado por IA puede ser incorrecto.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4979" y="3016206"/>
            <a:ext cx="914401" cy="914401"/>
          </a:xfrm>
          <a:prstGeom prst="rect">
            <a:avLst/>
          </a:prstGeom>
        </p:spPr>
      </p:pic>
      <p:pic>
        <p:nvPicPr>
          <p:cNvPr id="33" name="Imagen 32" descr="Forma&#10;&#10;El contenido generado por IA puede ser incorrecto.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7780" y="4032880"/>
            <a:ext cx="976136" cy="961127"/>
          </a:xfrm>
          <a:prstGeom prst="rect">
            <a:avLst/>
          </a:prstGeom>
        </p:spPr>
      </p:pic>
      <p:pic>
        <p:nvPicPr>
          <p:cNvPr id="37" name="Gráfico 36" descr="Gráfico de barras con tendencia alcista con relleno sólido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08878" y="5142330"/>
            <a:ext cx="914400" cy="914400"/>
          </a:xfrm>
          <a:prstGeom prst="rect">
            <a:avLst/>
          </a:prstGeom>
        </p:spPr>
      </p:pic>
      <p:pic>
        <p:nvPicPr>
          <p:cNvPr id="39" name="Gráfico 38" descr="Apretón de manos con relleno sólido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136" y="5599530"/>
            <a:ext cx="914400" cy="914400"/>
          </a:xfrm>
          <a:prstGeom prst="rect">
            <a:avLst/>
          </a:prstGeom>
        </p:spPr>
      </p:pic>
      <p:sp>
        <p:nvSpPr>
          <p:cNvPr id="40" name="Rectángulo 39"/>
          <p:cNvSpPr/>
          <p:nvPr/>
        </p:nvSpPr>
        <p:spPr>
          <a:xfrm>
            <a:off x="5341488" y="788046"/>
            <a:ext cx="9252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dirty="0">
                <a:solidFill>
                  <a:srgbClr val="FF7900"/>
                </a:solidFill>
              </a:rPr>
              <a:t>02</a:t>
            </a:r>
          </a:p>
        </p:txBody>
      </p:sp>
      <p:sp>
        <p:nvSpPr>
          <p:cNvPr id="41" name="Rectángulo 40"/>
          <p:cNvSpPr/>
          <p:nvPr/>
        </p:nvSpPr>
        <p:spPr>
          <a:xfrm>
            <a:off x="6707650" y="811292"/>
            <a:ext cx="454483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dirty="0">
                <a:solidFill>
                  <a:srgbClr val="FF7900"/>
                </a:solidFill>
              </a:rPr>
              <a:t>Red de Nodos</a:t>
            </a:r>
          </a:p>
        </p:txBody>
      </p:sp>
      <p:sp>
        <p:nvSpPr>
          <p:cNvPr id="42" name="CuadroTexto 41"/>
          <p:cNvSpPr txBox="1"/>
          <p:nvPr/>
        </p:nvSpPr>
        <p:spPr>
          <a:xfrm>
            <a:off x="6457950" y="2324132"/>
            <a:ext cx="573405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400" b="1" dirty="0"/>
              <a:t>El Mapa:</a:t>
            </a:r>
            <a:r>
              <a:rPr lang="es-EC" sz="2400" dirty="0"/>
              <a:t> Coordinación de 7 </a:t>
            </a:r>
            <a:r>
              <a:rPr lang="es-EC" sz="2400" dirty="0" err="1"/>
              <a:t>squads</a:t>
            </a:r>
            <a:r>
              <a:rPr lang="es-EC" sz="2400" dirty="0"/>
              <a:t> (</a:t>
            </a:r>
            <a:r>
              <a:rPr lang="es-EC" sz="2400" dirty="0" err="1"/>
              <a:t>Backend</a:t>
            </a:r>
            <a:r>
              <a:rPr lang="es-EC" sz="2400" dirty="0"/>
              <a:t>, </a:t>
            </a:r>
            <a:r>
              <a:rPr lang="es-EC" sz="2400" dirty="0" err="1"/>
              <a:t>Frontend</a:t>
            </a:r>
            <a:r>
              <a:rPr lang="es-EC" sz="2400" dirty="0"/>
              <a:t>, QA, Infra, UX/UI, Marketing, Soporte). </a:t>
            </a:r>
          </a:p>
          <a:p>
            <a:r>
              <a:rPr lang="es-EC" sz="2400" dirty="0"/>
              <a:t>L</a:t>
            </a:r>
            <a:r>
              <a:rPr lang="es-EC" sz="2400" b="1" dirty="0"/>
              <a:t>a Misión:</a:t>
            </a:r>
            <a:r>
              <a:rPr lang="es-EC" sz="2400" dirty="0"/>
              <a:t> Cumplir el plazo estratégico de 3 meses enfrentando dependencias críticas.</a:t>
            </a:r>
          </a:p>
          <a:p>
            <a:r>
              <a:rPr lang="es-EC" sz="2400" b="1" dirty="0"/>
              <a:t>El Riesgo:</a:t>
            </a:r>
            <a:r>
              <a:rPr lang="es-EC" sz="2400" dirty="0"/>
              <a:t> Bloqueos por cambios de alcance y falta de claridad que hoy amenazan el ritmo de entrega.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C" sz="2400" dirty="0"/>
          </a:p>
        </p:txBody>
      </p:sp>
      <p:sp>
        <p:nvSpPr>
          <p:cNvPr id="43" name="Rectángulo 42"/>
          <p:cNvSpPr/>
          <p:nvPr/>
        </p:nvSpPr>
        <p:spPr>
          <a:xfrm>
            <a:off x="4085239" y="5411978"/>
            <a:ext cx="7273725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36" y="2670597"/>
            <a:ext cx="1720683" cy="1720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7" descr="Más beneficios sin ir al banco y sin usar efectivo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2877" y="1982555"/>
            <a:ext cx="2424303" cy="3414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8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0" grpId="1"/>
      <p:bldP spid="41" grpId="0"/>
      <p:bldP spid="41" grpId="1"/>
      <p:bldP spid="42" grpId="0"/>
      <p:bldP spid="42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: esquinas redondeadas 24"/>
          <p:cNvSpPr/>
          <p:nvPr/>
        </p:nvSpPr>
        <p:spPr>
          <a:xfrm>
            <a:off x="6096000" y="1397772"/>
            <a:ext cx="6597112" cy="4648935"/>
          </a:xfrm>
          <a:prstGeom prst="roundRect">
            <a:avLst/>
          </a:prstGeom>
          <a:solidFill>
            <a:srgbClr val="77E8C7">
              <a:alpha val="5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4" name="Rectángulo: esquinas redondeadas 23"/>
          <p:cNvSpPr/>
          <p:nvPr/>
        </p:nvSpPr>
        <p:spPr>
          <a:xfrm>
            <a:off x="5362413" y="588935"/>
            <a:ext cx="7485682" cy="1321553"/>
          </a:xfrm>
          <a:prstGeom prst="roundRect">
            <a:avLst>
              <a:gd name="adj" fmla="val 50000"/>
            </a:avLst>
          </a:prstGeom>
          <a:solidFill>
            <a:srgbClr val="3E006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6" name="Círculo: vacío 1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831983" y="107451"/>
            <a:ext cx="7663966" cy="6846642"/>
          </a:xfrm>
          <a:prstGeom prst="donut">
            <a:avLst/>
          </a:prstGeom>
          <a:solidFill>
            <a:srgbClr val="6A1B9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17" name="Arco de bloque 16"/>
          <p:cNvSpPr/>
          <p:nvPr/>
        </p:nvSpPr>
        <p:spPr>
          <a:xfrm>
            <a:off x="-3831983" y="118809"/>
            <a:ext cx="7663966" cy="6846642"/>
          </a:xfrm>
          <a:prstGeom prst="blockArc">
            <a:avLst>
              <a:gd name="adj1" fmla="val 19389748"/>
              <a:gd name="adj2" fmla="val 21035417"/>
              <a:gd name="adj3" fmla="val 26139"/>
            </a:avLst>
          </a:prstGeom>
          <a:solidFill>
            <a:srgbClr val="77E8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18" name="Elipse 17"/>
          <p:cNvSpPr/>
          <p:nvPr/>
        </p:nvSpPr>
        <p:spPr>
          <a:xfrm>
            <a:off x="5005953" y="542439"/>
            <a:ext cx="1596325" cy="1461037"/>
          </a:xfrm>
          <a:prstGeom prst="ellipse">
            <a:avLst/>
          </a:prstGeom>
          <a:gradFill>
            <a:gsLst>
              <a:gs pos="0">
                <a:srgbClr val="3E006E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15" name="Imagen 14" descr="Imagen que contiene Gráfico radial&#10;&#10;El contenido generado por IA puede ser incorrecto.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25" y="259969"/>
            <a:ext cx="1142898" cy="1148249"/>
          </a:xfrm>
          <a:prstGeom prst="rect">
            <a:avLst/>
          </a:prstGeom>
        </p:spPr>
      </p:pic>
      <p:pic>
        <p:nvPicPr>
          <p:cNvPr id="27" name="Imagen 26" descr="Forma, Círculo&#10;&#10;El contenido generado por IA puede ser incorrecto.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334" y="913820"/>
            <a:ext cx="976136" cy="976136"/>
          </a:xfrm>
          <a:prstGeom prst="rect">
            <a:avLst/>
          </a:prstGeom>
        </p:spPr>
      </p:pic>
      <p:pic>
        <p:nvPicPr>
          <p:cNvPr id="29" name="Imagen 28" descr="Dibujo en blanco y negro&#10;&#10;El contenido generado por IA puede ser incorrecto.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836" y="1829194"/>
            <a:ext cx="1084739" cy="1084739"/>
          </a:xfrm>
          <a:prstGeom prst="rect">
            <a:avLst/>
          </a:prstGeom>
        </p:spPr>
      </p:pic>
      <p:pic>
        <p:nvPicPr>
          <p:cNvPr id="31" name="Imagen 30" descr="Forma&#10;&#10;El contenido generado por IA puede ser incorrecto.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7010" y="3118479"/>
            <a:ext cx="914401" cy="914401"/>
          </a:xfrm>
          <a:prstGeom prst="rect">
            <a:avLst/>
          </a:prstGeom>
        </p:spPr>
      </p:pic>
      <p:pic>
        <p:nvPicPr>
          <p:cNvPr id="33" name="Imagen 32" descr="Forma&#10;&#10;El contenido generado por IA puede ser incorrecto.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7780" y="4032880"/>
            <a:ext cx="976136" cy="961127"/>
          </a:xfrm>
          <a:prstGeom prst="rect">
            <a:avLst/>
          </a:prstGeom>
        </p:spPr>
      </p:pic>
      <p:pic>
        <p:nvPicPr>
          <p:cNvPr id="37" name="Gráfico 36" descr="Gráfico de barras con tendencia alcista con relleno sólido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08878" y="5142330"/>
            <a:ext cx="914400" cy="914400"/>
          </a:xfrm>
          <a:prstGeom prst="rect">
            <a:avLst/>
          </a:prstGeom>
        </p:spPr>
      </p:pic>
      <p:pic>
        <p:nvPicPr>
          <p:cNvPr id="39" name="Gráfico 38" descr="Apretón de manos con relleno sólido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136" y="5599530"/>
            <a:ext cx="914400" cy="914400"/>
          </a:xfrm>
          <a:prstGeom prst="rect">
            <a:avLst/>
          </a:prstGeom>
        </p:spPr>
      </p:pic>
      <p:sp>
        <p:nvSpPr>
          <p:cNvPr id="40" name="Rectángulo 39"/>
          <p:cNvSpPr/>
          <p:nvPr/>
        </p:nvSpPr>
        <p:spPr>
          <a:xfrm>
            <a:off x="5341488" y="788046"/>
            <a:ext cx="9252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dirty="0">
                <a:solidFill>
                  <a:srgbClr val="FF7900"/>
                </a:solidFill>
              </a:rPr>
              <a:t>03</a:t>
            </a:r>
          </a:p>
        </p:txBody>
      </p:sp>
      <p:sp>
        <p:nvSpPr>
          <p:cNvPr id="41" name="Rectángulo 40"/>
          <p:cNvSpPr/>
          <p:nvPr/>
        </p:nvSpPr>
        <p:spPr>
          <a:xfrm>
            <a:off x="6602276" y="788046"/>
            <a:ext cx="580691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dirty="0">
                <a:solidFill>
                  <a:srgbClr val="FF7900"/>
                </a:solidFill>
              </a:rPr>
              <a:t>Centro de Control</a:t>
            </a:r>
          </a:p>
        </p:txBody>
      </p:sp>
      <p:sp>
        <p:nvSpPr>
          <p:cNvPr id="42" name="CuadroTexto 41"/>
          <p:cNvSpPr txBox="1"/>
          <p:nvPr/>
        </p:nvSpPr>
        <p:spPr>
          <a:xfrm>
            <a:off x="6466205" y="1983740"/>
            <a:ext cx="5734050" cy="3373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s-EC" sz="2400" b="1" dirty="0" err="1"/>
              <a:t>Dependency</a:t>
            </a:r>
            <a:r>
              <a:rPr lang="es-EC" sz="2400" b="1" dirty="0"/>
              <a:t> </a:t>
            </a:r>
            <a:r>
              <a:rPr lang="es-EC" sz="2400" b="1" dirty="0" err="1"/>
              <a:t>Board</a:t>
            </a:r>
            <a:r>
              <a:rPr lang="es-EC" sz="2400" b="1" dirty="0"/>
              <a:t>:</a:t>
            </a:r>
            <a:r>
              <a:rPr lang="es-EC" sz="2400" dirty="0"/>
              <a:t> Mapeo visual de requerimientos cruzados para anticipar cuellos de botella.</a:t>
            </a:r>
          </a:p>
          <a:p>
            <a:pPr algn="just"/>
            <a:r>
              <a:rPr lang="es-EC" sz="2400" b="1" dirty="0"/>
              <a:t>Scrum </a:t>
            </a:r>
            <a:r>
              <a:rPr lang="es-EC" sz="2400" b="1" dirty="0" err="1"/>
              <a:t>of</a:t>
            </a:r>
            <a:r>
              <a:rPr lang="es-EC" sz="2400" b="1" dirty="0"/>
              <a:t> Scrums (</a:t>
            </a:r>
            <a:r>
              <a:rPr lang="es-EC" sz="2400" b="1" dirty="0" err="1"/>
              <a:t>SoS</a:t>
            </a:r>
            <a:r>
              <a:rPr lang="es-EC" sz="2400" b="1" dirty="0"/>
              <a:t>):</a:t>
            </a:r>
            <a:r>
              <a:rPr lang="es-EC" sz="2400" dirty="0"/>
              <a:t> Sincronización diaria de 15 min enfocada exclusivamente en la resolución de impedimentos.</a:t>
            </a:r>
          </a:p>
          <a:p>
            <a:pPr algn="just"/>
            <a:r>
              <a:rPr lang="es-EC" sz="2400" b="1" dirty="0"/>
              <a:t>Acuerdos de Equipo:</a:t>
            </a:r>
            <a:r>
              <a:rPr lang="es-EC" sz="2400" dirty="0"/>
              <a:t> Definición de Listo (</a:t>
            </a:r>
            <a:r>
              <a:rPr lang="es-EC" sz="2400" dirty="0" err="1"/>
              <a:t>DoR</a:t>
            </a:r>
            <a:r>
              <a:rPr lang="es-EC" sz="2400" dirty="0"/>
              <a:t>) y Definición de Hecho (</a:t>
            </a:r>
            <a:r>
              <a:rPr lang="es-EC" sz="2400" dirty="0" err="1"/>
              <a:t>DoD</a:t>
            </a:r>
            <a:r>
              <a:rPr lang="es-EC" sz="2400" dirty="0"/>
              <a:t>) unificadas para garantizar la calidad desde el origen</a:t>
            </a:r>
          </a:p>
        </p:txBody>
      </p:sp>
      <p:sp>
        <p:nvSpPr>
          <p:cNvPr id="43" name="Rectángulo 42"/>
          <p:cNvSpPr/>
          <p:nvPr/>
        </p:nvSpPr>
        <p:spPr>
          <a:xfrm>
            <a:off x="4085239" y="5411978"/>
            <a:ext cx="7273725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" name="Picture 5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36" y="2670597"/>
            <a:ext cx="1720683" cy="1720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7" descr="Más beneficios sin ir al banco y sin usar efectivo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2877" y="1982555"/>
            <a:ext cx="2424303" cy="3414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8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0" grpId="1"/>
      <p:bldP spid="41" grpId="0"/>
      <p:bldP spid="41" grpId="1"/>
      <p:bldP spid="42" grpId="0"/>
      <p:bldP spid="4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: esquinas redondeadas 24"/>
          <p:cNvSpPr/>
          <p:nvPr/>
        </p:nvSpPr>
        <p:spPr>
          <a:xfrm>
            <a:off x="6096000" y="1397772"/>
            <a:ext cx="6597112" cy="4648935"/>
          </a:xfrm>
          <a:prstGeom prst="roundRect">
            <a:avLst/>
          </a:prstGeom>
          <a:solidFill>
            <a:srgbClr val="77E8C7">
              <a:alpha val="5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4" name="Rectángulo: esquinas redondeadas 23"/>
          <p:cNvSpPr/>
          <p:nvPr/>
        </p:nvSpPr>
        <p:spPr>
          <a:xfrm>
            <a:off x="5362413" y="588935"/>
            <a:ext cx="7485682" cy="1321553"/>
          </a:xfrm>
          <a:prstGeom prst="roundRect">
            <a:avLst>
              <a:gd name="adj" fmla="val 50000"/>
            </a:avLst>
          </a:prstGeom>
          <a:solidFill>
            <a:srgbClr val="3E006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6" name="Círculo: vacío 1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831983" y="107451"/>
            <a:ext cx="7663966" cy="6846642"/>
          </a:xfrm>
          <a:prstGeom prst="donut">
            <a:avLst/>
          </a:prstGeom>
          <a:solidFill>
            <a:srgbClr val="6A1B9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17" name="Arco de bloque 16"/>
          <p:cNvSpPr/>
          <p:nvPr/>
        </p:nvSpPr>
        <p:spPr>
          <a:xfrm>
            <a:off x="-3831983" y="118809"/>
            <a:ext cx="7663966" cy="6846642"/>
          </a:xfrm>
          <a:prstGeom prst="blockArc">
            <a:avLst>
              <a:gd name="adj1" fmla="val 20718970"/>
              <a:gd name="adj2" fmla="val 622497"/>
              <a:gd name="adj3" fmla="val 25488"/>
            </a:avLst>
          </a:prstGeom>
          <a:solidFill>
            <a:srgbClr val="77E8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18" name="Elipse 17"/>
          <p:cNvSpPr/>
          <p:nvPr/>
        </p:nvSpPr>
        <p:spPr>
          <a:xfrm>
            <a:off x="5005953" y="542439"/>
            <a:ext cx="1596325" cy="1461037"/>
          </a:xfrm>
          <a:prstGeom prst="ellipse">
            <a:avLst/>
          </a:prstGeom>
          <a:gradFill>
            <a:gsLst>
              <a:gs pos="0">
                <a:srgbClr val="3E006E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15" name="Imagen 14" descr="Imagen que contiene Gráfico radial&#10;&#10;El contenido generado por IA puede ser incorrecto.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25" y="259969"/>
            <a:ext cx="1142898" cy="1148249"/>
          </a:xfrm>
          <a:prstGeom prst="rect">
            <a:avLst/>
          </a:prstGeom>
        </p:spPr>
      </p:pic>
      <p:pic>
        <p:nvPicPr>
          <p:cNvPr id="27" name="Imagen 26" descr="Forma, Círculo&#10;&#10;El contenido generado por IA puede ser incorrecto.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334" y="913820"/>
            <a:ext cx="976136" cy="976136"/>
          </a:xfrm>
          <a:prstGeom prst="rect">
            <a:avLst/>
          </a:prstGeom>
        </p:spPr>
      </p:pic>
      <p:pic>
        <p:nvPicPr>
          <p:cNvPr id="29" name="Imagen 28" descr="Dibujo en blanco y negro&#10;&#10;El contenido generado por IA puede ser incorrecto.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836" y="1829194"/>
            <a:ext cx="914401" cy="914401"/>
          </a:xfrm>
          <a:prstGeom prst="rect">
            <a:avLst/>
          </a:prstGeom>
        </p:spPr>
      </p:pic>
      <p:pic>
        <p:nvPicPr>
          <p:cNvPr id="31" name="Imagen 30" descr="Forma&#10;&#10;El contenido generado por IA puede ser incorrecto.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3470" y="2836416"/>
            <a:ext cx="1359453" cy="1359453"/>
          </a:xfrm>
          <a:prstGeom prst="rect">
            <a:avLst/>
          </a:prstGeom>
        </p:spPr>
      </p:pic>
      <p:pic>
        <p:nvPicPr>
          <p:cNvPr id="33" name="Imagen 32" descr="Forma&#10;&#10;El contenido generado por IA puede ser incorrecto.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7780" y="4032880"/>
            <a:ext cx="976136" cy="961127"/>
          </a:xfrm>
          <a:prstGeom prst="rect">
            <a:avLst/>
          </a:prstGeom>
        </p:spPr>
      </p:pic>
      <p:pic>
        <p:nvPicPr>
          <p:cNvPr id="37" name="Gráfico 36" descr="Gráfico de barras con tendencia alcista con relleno sólido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08878" y="5142330"/>
            <a:ext cx="914400" cy="914400"/>
          </a:xfrm>
          <a:prstGeom prst="rect">
            <a:avLst/>
          </a:prstGeom>
        </p:spPr>
      </p:pic>
      <p:pic>
        <p:nvPicPr>
          <p:cNvPr id="39" name="Gráfico 38" descr="Apretón de manos con relleno sólido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136" y="5599530"/>
            <a:ext cx="914400" cy="914400"/>
          </a:xfrm>
          <a:prstGeom prst="rect">
            <a:avLst/>
          </a:prstGeom>
        </p:spPr>
      </p:pic>
      <p:sp>
        <p:nvSpPr>
          <p:cNvPr id="40" name="Rectángulo 39"/>
          <p:cNvSpPr/>
          <p:nvPr/>
        </p:nvSpPr>
        <p:spPr>
          <a:xfrm>
            <a:off x="5341488" y="788046"/>
            <a:ext cx="9252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dirty="0">
                <a:solidFill>
                  <a:srgbClr val="FF7900"/>
                </a:solidFill>
              </a:rPr>
              <a:t>04</a:t>
            </a:r>
          </a:p>
        </p:txBody>
      </p:sp>
      <p:sp>
        <p:nvSpPr>
          <p:cNvPr id="41" name="Rectángulo 40"/>
          <p:cNvSpPr/>
          <p:nvPr/>
        </p:nvSpPr>
        <p:spPr>
          <a:xfrm>
            <a:off x="6537740" y="788046"/>
            <a:ext cx="465710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dirty="0">
                <a:solidFill>
                  <a:srgbClr val="FF7900"/>
                </a:solidFill>
              </a:rPr>
              <a:t>Sincronizados</a:t>
            </a:r>
          </a:p>
        </p:txBody>
      </p:sp>
      <p:sp>
        <p:nvSpPr>
          <p:cNvPr id="42" name="CuadroTexto 41"/>
          <p:cNvSpPr txBox="1"/>
          <p:nvPr/>
        </p:nvSpPr>
        <p:spPr>
          <a:xfrm>
            <a:off x="6457950" y="1889176"/>
            <a:ext cx="573405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C" sz="2400" b="1" dirty="0"/>
              <a:t>QA vs. Velocidad:</a:t>
            </a:r>
            <a:r>
              <a:rPr lang="es-EC" sz="2400" dirty="0"/>
              <a:t> Negociación basada en riesgos para proteger la seguridad sin detener el sprint.</a:t>
            </a:r>
          </a:p>
          <a:p>
            <a:pPr algn="just"/>
            <a:r>
              <a:rPr lang="es-EC" sz="2400" b="1" dirty="0"/>
              <a:t>Marketing vs. Desarrollo:</a:t>
            </a:r>
            <a:r>
              <a:rPr lang="es-EC" sz="2400" dirty="0"/>
              <a:t> Creación de Demos controladas para visibilidad temprana sin interrupciones técnicas.</a:t>
            </a:r>
          </a:p>
          <a:p>
            <a:pPr algn="just"/>
            <a:r>
              <a:rPr lang="es-EC" sz="2400" b="1" dirty="0"/>
              <a:t>Optimización de Flujo:</a:t>
            </a:r>
            <a:r>
              <a:rPr lang="es-EC" sz="2400" dirty="0"/>
              <a:t> Uso de Ishikawa para diagnosticar caídas de velocidad en </a:t>
            </a:r>
            <a:r>
              <a:rPr lang="es-EC" sz="2400" dirty="0" err="1"/>
              <a:t>Backend</a:t>
            </a:r>
            <a:r>
              <a:rPr lang="es-EC" sz="2400" dirty="0"/>
              <a:t> y reducción de WIP en </a:t>
            </a:r>
            <a:r>
              <a:rPr lang="es-EC" sz="2400" dirty="0" err="1"/>
              <a:t>Frontend</a:t>
            </a:r>
            <a:r>
              <a:rPr lang="es-EC" sz="2400" dirty="0"/>
              <a:t>/UX para eliminar "embotellamientos"</a:t>
            </a:r>
          </a:p>
        </p:txBody>
      </p:sp>
      <p:sp>
        <p:nvSpPr>
          <p:cNvPr id="43" name="Rectángulo 42"/>
          <p:cNvSpPr/>
          <p:nvPr/>
        </p:nvSpPr>
        <p:spPr>
          <a:xfrm>
            <a:off x="4085239" y="5411978"/>
            <a:ext cx="7273725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" name="Picture 5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36" y="2670597"/>
            <a:ext cx="1720683" cy="1720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7" descr="Más beneficios sin ir al banco y sin usar efectivo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2877" y="1982555"/>
            <a:ext cx="2424303" cy="3414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8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0" grpId="1"/>
      <p:bldP spid="41" grpId="0"/>
      <p:bldP spid="41" grpId="1"/>
      <p:bldP spid="42" grpId="0"/>
      <p:bldP spid="4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: esquinas redondeadas 24"/>
          <p:cNvSpPr/>
          <p:nvPr/>
        </p:nvSpPr>
        <p:spPr>
          <a:xfrm>
            <a:off x="6096000" y="1397772"/>
            <a:ext cx="6597112" cy="4648935"/>
          </a:xfrm>
          <a:prstGeom prst="roundRect">
            <a:avLst/>
          </a:prstGeom>
          <a:solidFill>
            <a:srgbClr val="77E8C7">
              <a:alpha val="5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4" name="Rectángulo: esquinas redondeadas 23"/>
          <p:cNvSpPr/>
          <p:nvPr/>
        </p:nvSpPr>
        <p:spPr>
          <a:xfrm>
            <a:off x="5362413" y="588935"/>
            <a:ext cx="7485682" cy="1321553"/>
          </a:xfrm>
          <a:prstGeom prst="roundRect">
            <a:avLst>
              <a:gd name="adj" fmla="val 50000"/>
            </a:avLst>
          </a:prstGeom>
          <a:solidFill>
            <a:srgbClr val="3E006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6" name="Círculo: vacío 1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831983" y="107451"/>
            <a:ext cx="7663966" cy="6846642"/>
          </a:xfrm>
          <a:prstGeom prst="donut">
            <a:avLst/>
          </a:prstGeom>
          <a:solidFill>
            <a:srgbClr val="6A1B9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17" name="Arco de bloque 16"/>
          <p:cNvSpPr/>
          <p:nvPr/>
        </p:nvSpPr>
        <p:spPr>
          <a:xfrm>
            <a:off x="-3831983" y="118809"/>
            <a:ext cx="7663966" cy="6846642"/>
          </a:xfrm>
          <a:prstGeom prst="blockArc">
            <a:avLst>
              <a:gd name="adj1" fmla="val 466878"/>
              <a:gd name="adj2" fmla="val 2039330"/>
              <a:gd name="adj3" fmla="val 25562"/>
            </a:avLst>
          </a:prstGeom>
          <a:solidFill>
            <a:srgbClr val="77E8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18" name="Elipse 17"/>
          <p:cNvSpPr/>
          <p:nvPr/>
        </p:nvSpPr>
        <p:spPr>
          <a:xfrm>
            <a:off x="5005953" y="542439"/>
            <a:ext cx="1596325" cy="1461037"/>
          </a:xfrm>
          <a:prstGeom prst="ellipse">
            <a:avLst/>
          </a:prstGeom>
          <a:gradFill>
            <a:gsLst>
              <a:gs pos="0">
                <a:srgbClr val="3E006E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15" name="Imagen 14" descr="Imagen que contiene Gráfico radial&#10;&#10;El contenido generado por IA puede ser incorrecto.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25" y="259969"/>
            <a:ext cx="1142898" cy="1148249"/>
          </a:xfrm>
          <a:prstGeom prst="rect">
            <a:avLst/>
          </a:prstGeom>
        </p:spPr>
      </p:pic>
      <p:pic>
        <p:nvPicPr>
          <p:cNvPr id="27" name="Imagen 26" descr="Forma, Círculo&#10;&#10;El contenido generado por IA puede ser incorrecto.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334" y="913820"/>
            <a:ext cx="976136" cy="976136"/>
          </a:xfrm>
          <a:prstGeom prst="rect">
            <a:avLst/>
          </a:prstGeom>
        </p:spPr>
      </p:pic>
      <p:pic>
        <p:nvPicPr>
          <p:cNvPr id="29" name="Imagen 28" descr="Dibujo en blanco y negro&#10;&#10;El contenido generado por IA puede ser incorrecto.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836" y="1829194"/>
            <a:ext cx="914401" cy="914401"/>
          </a:xfrm>
          <a:prstGeom prst="rect">
            <a:avLst/>
          </a:prstGeom>
        </p:spPr>
      </p:pic>
      <p:pic>
        <p:nvPicPr>
          <p:cNvPr id="31" name="Imagen 30" descr="Forma&#10;&#10;El contenido generado por IA puede ser incorrecto.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1444" y="2990532"/>
            <a:ext cx="976136" cy="976136"/>
          </a:xfrm>
          <a:prstGeom prst="rect">
            <a:avLst/>
          </a:prstGeom>
        </p:spPr>
      </p:pic>
      <p:pic>
        <p:nvPicPr>
          <p:cNvPr id="33" name="Imagen 32" descr="Forma&#10;&#10;El contenido generado por IA puede ser incorrecto.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3278" y="3898360"/>
            <a:ext cx="1263396" cy="1243970"/>
          </a:xfrm>
          <a:prstGeom prst="rect">
            <a:avLst/>
          </a:prstGeom>
        </p:spPr>
      </p:pic>
      <p:pic>
        <p:nvPicPr>
          <p:cNvPr id="37" name="Gráfico 36" descr="Gráfico de barras con tendencia alcista con relleno sólido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08878" y="5142330"/>
            <a:ext cx="914400" cy="914400"/>
          </a:xfrm>
          <a:prstGeom prst="rect">
            <a:avLst/>
          </a:prstGeom>
        </p:spPr>
      </p:pic>
      <p:pic>
        <p:nvPicPr>
          <p:cNvPr id="39" name="Gráfico 38" descr="Apretón de manos con relleno sólido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136" y="5599530"/>
            <a:ext cx="914400" cy="914400"/>
          </a:xfrm>
          <a:prstGeom prst="rect">
            <a:avLst/>
          </a:prstGeom>
        </p:spPr>
      </p:pic>
      <p:sp>
        <p:nvSpPr>
          <p:cNvPr id="40" name="Rectángulo 39"/>
          <p:cNvSpPr/>
          <p:nvPr/>
        </p:nvSpPr>
        <p:spPr>
          <a:xfrm>
            <a:off x="5341488" y="788046"/>
            <a:ext cx="9252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dirty="0">
                <a:solidFill>
                  <a:srgbClr val="FF7900"/>
                </a:solidFill>
              </a:rPr>
              <a:t>05</a:t>
            </a:r>
          </a:p>
        </p:txBody>
      </p:sp>
      <p:sp>
        <p:nvSpPr>
          <p:cNvPr id="41" name="Rectángulo 40"/>
          <p:cNvSpPr/>
          <p:nvPr/>
        </p:nvSpPr>
        <p:spPr>
          <a:xfrm>
            <a:off x="6556597" y="788046"/>
            <a:ext cx="486941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dirty="0">
                <a:solidFill>
                  <a:srgbClr val="FF7900"/>
                </a:solidFill>
              </a:rPr>
              <a:t>Nuestro Velero</a:t>
            </a:r>
          </a:p>
        </p:txBody>
      </p:sp>
      <p:sp>
        <p:nvSpPr>
          <p:cNvPr id="42" name="CuadroTexto 41"/>
          <p:cNvSpPr txBox="1"/>
          <p:nvPr/>
        </p:nvSpPr>
        <p:spPr>
          <a:xfrm>
            <a:off x="6457950" y="2165878"/>
            <a:ext cx="573405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400" b="1" dirty="0"/>
              <a:t>El Velero:</a:t>
            </a:r>
            <a:r>
              <a:rPr lang="es-EC" sz="2400" dirty="0"/>
              <a:t> Identificación sistemática de anclas (bloqueos) y vientos a favor.</a:t>
            </a:r>
          </a:p>
          <a:p>
            <a:r>
              <a:rPr lang="es-EC" sz="2400" b="1" dirty="0"/>
              <a:t>5 Porqués:</a:t>
            </a:r>
            <a:r>
              <a:rPr lang="es-EC" sz="2400" dirty="0"/>
              <a:t> Análisis de causa raíz para estabilizar el alcance y mejorar la negociación con </a:t>
            </a:r>
            <a:r>
              <a:rPr lang="es-EC" sz="2400" dirty="0" err="1"/>
              <a:t>stakeholders</a:t>
            </a:r>
            <a:r>
              <a:rPr lang="es-EC" sz="2400" dirty="0"/>
              <a:t>.</a:t>
            </a:r>
          </a:p>
          <a:p>
            <a:r>
              <a:rPr lang="es-EC" sz="2400" b="1" dirty="0"/>
              <a:t>Círculos de Influencia:</a:t>
            </a:r>
            <a:r>
              <a:rPr lang="es-EC" sz="2400" dirty="0"/>
              <a:t> Claridad en la toma de decisiones: qué resuelve el equipo y qué escala </a:t>
            </a:r>
            <a:r>
              <a:rPr lang="es-ES" altLang="es-EC" sz="2400" dirty="0"/>
              <a:t>al</a:t>
            </a:r>
            <a:r>
              <a:rPr lang="es-EC" sz="2400" dirty="0"/>
              <a:t> Facilitador.</a:t>
            </a:r>
          </a:p>
        </p:txBody>
      </p:sp>
      <p:sp>
        <p:nvSpPr>
          <p:cNvPr id="43" name="Rectángulo 42"/>
          <p:cNvSpPr/>
          <p:nvPr/>
        </p:nvSpPr>
        <p:spPr>
          <a:xfrm>
            <a:off x="4085239" y="5411978"/>
            <a:ext cx="7273725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" name="Picture 5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36" y="2670597"/>
            <a:ext cx="1720683" cy="1720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7" descr="Más beneficios sin ir al banco y sin usar efectivo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2877" y="1982555"/>
            <a:ext cx="2424303" cy="3414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8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0" grpId="1"/>
      <p:bldP spid="41" grpId="0"/>
      <p:bldP spid="41" grpId="1"/>
      <p:bldP spid="42" grpId="0"/>
      <p:bldP spid="4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: esquinas redondeadas 24"/>
          <p:cNvSpPr/>
          <p:nvPr/>
        </p:nvSpPr>
        <p:spPr>
          <a:xfrm>
            <a:off x="6096000" y="1397772"/>
            <a:ext cx="6597112" cy="4648935"/>
          </a:xfrm>
          <a:prstGeom prst="roundRect">
            <a:avLst/>
          </a:prstGeom>
          <a:solidFill>
            <a:srgbClr val="77E8C7">
              <a:alpha val="5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4" name="Rectángulo: esquinas redondeadas 23"/>
          <p:cNvSpPr/>
          <p:nvPr/>
        </p:nvSpPr>
        <p:spPr>
          <a:xfrm>
            <a:off x="5362413" y="588935"/>
            <a:ext cx="7485682" cy="1321553"/>
          </a:xfrm>
          <a:prstGeom prst="roundRect">
            <a:avLst>
              <a:gd name="adj" fmla="val 50000"/>
            </a:avLst>
          </a:prstGeom>
          <a:solidFill>
            <a:srgbClr val="3E006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6" name="Círculo: vacío 1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831983" y="107451"/>
            <a:ext cx="7663966" cy="6846642"/>
          </a:xfrm>
          <a:prstGeom prst="donut">
            <a:avLst/>
          </a:prstGeom>
          <a:solidFill>
            <a:srgbClr val="6A1B9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17" name="Arco de bloque 16"/>
          <p:cNvSpPr/>
          <p:nvPr/>
        </p:nvSpPr>
        <p:spPr>
          <a:xfrm>
            <a:off x="-3831983" y="118809"/>
            <a:ext cx="7663966" cy="6846642"/>
          </a:xfrm>
          <a:prstGeom prst="blockArc">
            <a:avLst>
              <a:gd name="adj1" fmla="val 1935786"/>
              <a:gd name="adj2" fmla="val 3790939"/>
              <a:gd name="adj3" fmla="val 25460"/>
            </a:avLst>
          </a:prstGeom>
          <a:solidFill>
            <a:srgbClr val="77E8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18" name="Elipse 17"/>
          <p:cNvSpPr/>
          <p:nvPr/>
        </p:nvSpPr>
        <p:spPr>
          <a:xfrm>
            <a:off x="5005953" y="542439"/>
            <a:ext cx="1596325" cy="1461037"/>
          </a:xfrm>
          <a:prstGeom prst="ellipse">
            <a:avLst/>
          </a:prstGeom>
          <a:gradFill>
            <a:gsLst>
              <a:gs pos="0">
                <a:srgbClr val="3E006E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15" name="Imagen 14" descr="Imagen que contiene Gráfico radial&#10;&#10;El contenido generado por IA puede ser incorrecto.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25" y="259969"/>
            <a:ext cx="1142898" cy="1148249"/>
          </a:xfrm>
          <a:prstGeom prst="rect">
            <a:avLst/>
          </a:prstGeom>
        </p:spPr>
      </p:pic>
      <p:pic>
        <p:nvPicPr>
          <p:cNvPr id="27" name="Imagen 26" descr="Forma, Círculo&#10;&#10;El contenido generado por IA puede ser incorrecto.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334" y="913820"/>
            <a:ext cx="976136" cy="976136"/>
          </a:xfrm>
          <a:prstGeom prst="rect">
            <a:avLst/>
          </a:prstGeom>
        </p:spPr>
      </p:pic>
      <p:pic>
        <p:nvPicPr>
          <p:cNvPr id="29" name="Imagen 28" descr="Dibujo en blanco y negro&#10;&#10;El contenido generado por IA puede ser incorrecto.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836" y="1829194"/>
            <a:ext cx="914401" cy="914401"/>
          </a:xfrm>
          <a:prstGeom prst="rect">
            <a:avLst/>
          </a:prstGeom>
        </p:spPr>
      </p:pic>
      <p:pic>
        <p:nvPicPr>
          <p:cNvPr id="31" name="Imagen 30" descr="Forma&#10;&#10;El contenido generado por IA puede ser incorrecto.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1444" y="2990532"/>
            <a:ext cx="976136" cy="976136"/>
          </a:xfrm>
          <a:prstGeom prst="rect">
            <a:avLst/>
          </a:prstGeom>
        </p:spPr>
      </p:pic>
      <p:pic>
        <p:nvPicPr>
          <p:cNvPr id="33" name="Imagen 32" descr="Forma&#10;&#10;El contenido generado por IA puede ser incorrecto.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2406" y="3996176"/>
            <a:ext cx="991379" cy="976136"/>
          </a:xfrm>
          <a:prstGeom prst="rect">
            <a:avLst/>
          </a:prstGeom>
        </p:spPr>
      </p:pic>
      <p:pic>
        <p:nvPicPr>
          <p:cNvPr id="37" name="Gráfico 36" descr="Gráfico de barras con tendencia alcista con relleno sólido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58913" y="4968045"/>
            <a:ext cx="1318021" cy="1318021"/>
          </a:xfrm>
          <a:prstGeom prst="rect">
            <a:avLst/>
          </a:prstGeom>
        </p:spPr>
      </p:pic>
      <p:pic>
        <p:nvPicPr>
          <p:cNvPr id="39" name="Gráfico 38" descr="Apretón de manos con relleno sólido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136" y="5599530"/>
            <a:ext cx="914400" cy="914400"/>
          </a:xfrm>
          <a:prstGeom prst="rect">
            <a:avLst/>
          </a:prstGeom>
        </p:spPr>
      </p:pic>
      <p:sp>
        <p:nvSpPr>
          <p:cNvPr id="40" name="Rectángulo 39"/>
          <p:cNvSpPr/>
          <p:nvPr/>
        </p:nvSpPr>
        <p:spPr>
          <a:xfrm>
            <a:off x="5341488" y="788046"/>
            <a:ext cx="9252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dirty="0">
                <a:solidFill>
                  <a:srgbClr val="FF7900"/>
                </a:solidFill>
              </a:rPr>
              <a:t>06</a:t>
            </a:r>
          </a:p>
        </p:txBody>
      </p:sp>
      <p:sp>
        <p:nvSpPr>
          <p:cNvPr id="41" name="Rectángulo 40"/>
          <p:cNvSpPr/>
          <p:nvPr/>
        </p:nvSpPr>
        <p:spPr>
          <a:xfrm>
            <a:off x="6623201" y="775992"/>
            <a:ext cx="321113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dirty="0" err="1">
                <a:solidFill>
                  <a:srgbClr val="FF7900"/>
                </a:solidFill>
              </a:rPr>
              <a:t>Roadmap</a:t>
            </a:r>
            <a:endParaRPr lang="es-ES" sz="5400" b="1" dirty="0">
              <a:solidFill>
                <a:srgbClr val="FF7900"/>
              </a:solidFill>
            </a:endParaRPr>
          </a:p>
        </p:txBody>
      </p:sp>
      <p:sp>
        <p:nvSpPr>
          <p:cNvPr id="42" name="CuadroTexto 41"/>
          <p:cNvSpPr txBox="1"/>
          <p:nvPr/>
        </p:nvSpPr>
        <p:spPr>
          <a:xfrm>
            <a:off x="6457950" y="1956984"/>
            <a:ext cx="573405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C" sz="2400" dirty="0"/>
              <a:t>Semanas 1-4 enfocadas en alineación y flujo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C" sz="2400" dirty="0"/>
              <a:t>Semanas 5-6 en inspección final cierre de MVP.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C" sz="2400" dirty="0"/>
              <a:t>Métricas clave: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sz="2400" b="1" dirty="0"/>
              <a:t>Lead Time:</a:t>
            </a:r>
            <a:r>
              <a:rPr lang="es-EC" sz="2400" dirty="0"/>
              <a:t> Velocidad de la idea a la mano del usuario.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sz="2400" b="1" dirty="0" err="1"/>
              <a:t>Throughput</a:t>
            </a:r>
            <a:r>
              <a:rPr lang="es-EC" sz="2400" b="1" dirty="0"/>
              <a:t>:</a:t>
            </a:r>
            <a:r>
              <a:rPr lang="es-EC" sz="2400" dirty="0"/>
              <a:t> Capacidad real de entrega de valor.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sz="2400" b="1" dirty="0" err="1"/>
              <a:t>Blocked</a:t>
            </a:r>
            <a:r>
              <a:rPr lang="es-EC" sz="2400" b="1" dirty="0"/>
              <a:t> Ratio:</a:t>
            </a:r>
            <a:r>
              <a:rPr lang="es-EC" sz="2400" dirty="0"/>
              <a:t> Salud del flujo de dependencias.</a:t>
            </a:r>
          </a:p>
        </p:txBody>
      </p:sp>
      <p:sp>
        <p:nvSpPr>
          <p:cNvPr id="43" name="Rectángulo 42"/>
          <p:cNvSpPr/>
          <p:nvPr/>
        </p:nvSpPr>
        <p:spPr>
          <a:xfrm>
            <a:off x="4085239" y="5411978"/>
            <a:ext cx="7273725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36" y="2670597"/>
            <a:ext cx="1720683" cy="1720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7" descr="Más beneficios sin ir al banco y sin usar efectivo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2877" y="1982555"/>
            <a:ext cx="2424303" cy="3414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8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0" grpId="1"/>
      <p:bldP spid="41" grpId="0"/>
      <p:bldP spid="41" grpId="1"/>
      <p:bldP spid="42" grpId="0"/>
      <p:bldP spid="42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: esquinas redondeadas 24"/>
          <p:cNvSpPr/>
          <p:nvPr/>
        </p:nvSpPr>
        <p:spPr>
          <a:xfrm>
            <a:off x="6096000" y="1397772"/>
            <a:ext cx="6597112" cy="4648935"/>
          </a:xfrm>
          <a:prstGeom prst="roundRect">
            <a:avLst/>
          </a:prstGeom>
          <a:solidFill>
            <a:srgbClr val="77E8C7">
              <a:alpha val="5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4" name="Rectángulo: esquinas redondeadas 23"/>
          <p:cNvSpPr/>
          <p:nvPr/>
        </p:nvSpPr>
        <p:spPr>
          <a:xfrm>
            <a:off x="5362413" y="588935"/>
            <a:ext cx="7485682" cy="1321553"/>
          </a:xfrm>
          <a:prstGeom prst="roundRect">
            <a:avLst>
              <a:gd name="adj" fmla="val 50000"/>
            </a:avLst>
          </a:prstGeom>
          <a:solidFill>
            <a:srgbClr val="3E006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6" name="Círculo: vacío 1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831983" y="107451"/>
            <a:ext cx="7663966" cy="6846642"/>
          </a:xfrm>
          <a:prstGeom prst="donut">
            <a:avLst/>
          </a:prstGeom>
          <a:solidFill>
            <a:srgbClr val="6A1B9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17" name="Arco de bloque 16"/>
          <p:cNvSpPr/>
          <p:nvPr/>
        </p:nvSpPr>
        <p:spPr>
          <a:xfrm>
            <a:off x="-3831983" y="118809"/>
            <a:ext cx="7663966" cy="6846642"/>
          </a:xfrm>
          <a:prstGeom prst="blockArc">
            <a:avLst>
              <a:gd name="adj1" fmla="val 3807541"/>
              <a:gd name="adj2" fmla="val 5426495"/>
              <a:gd name="adj3" fmla="val 25703"/>
            </a:avLst>
          </a:prstGeom>
          <a:solidFill>
            <a:srgbClr val="77E8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18" name="Elipse 17"/>
          <p:cNvSpPr/>
          <p:nvPr/>
        </p:nvSpPr>
        <p:spPr>
          <a:xfrm>
            <a:off x="5005953" y="542439"/>
            <a:ext cx="1596325" cy="1461037"/>
          </a:xfrm>
          <a:prstGeom prst="ellipse">
            <a:avLst/>
          </a:prstGeom>
          <a:gradFill>
            <a:gsLst>
              <a:gs pos="0">
                <a:srgbClr val="3E006E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15" name="Imagen 14" descr="Imagen que contiene Gráfico radial&#10;&#10;El contenido generado por IA puede ser incorrecto.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25" y="259969"/>
            <a:ext cx="1142898" cy="1148249"/>
          </a:xfrm>
          <a:prstGeom prst="rect">
            <a:avLst/>
          </a:prstGeom>
        </p:spPr>
      </p:pic>
      <p:pic>
        <p:nvPicPr>
          <p:cNvPr id="27" name="Imagen 26" descr="Forma, Círculo&#10;&#10;El contenido generado por IA puede ser incorrecto.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334" y="913820"/>
            <a:ext cx="976136" cy="976136"/>
          </a:xfrm>
          <a:prstGeom prst="rect">
            <a:avLst/>
          </a:prstGeom>
        </p:spPr>
      </p:pic>
      <p:pic>
        <p:nvPicPr>
          <p:cNvPr id="29" name="Imagen 28" descr="Dibujo en blanco y negro&#10;&#10;El contenido generado por IA puede ser incorrecto.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836" y="1829194"/>
            <a:ext cx="914401" cy="914401"/>
          </a:xfrm>
          <a:prstGeom prst="rect">
            <a:avLst/>
          </a:prstGeom>
        </p:spPr>
      </p:pic>
      <p:pic>
        <p:nvPicPr>
          <p:cNvPr id="31" name="Imagen 30" descr="Forma&#10;&#10;El contenido generado por IA puede ser incorrecto.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1444" y="2990532"/>
            <a:ext cx="976136" cy="976136"/>
          </a:xfrm>
          <a:prstGeom prst="rect">
            <a:avLst/>
          </a:prstGeom>
        </p:spPr>
      </p:pic>
      <p:pic>
        <p:nvPicPr>
          <p:cNvPr id="33" name="Imagen 32" descr="Forma&#10;&#10;El contenido generado por IA puede ser incorrecto.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2406" y="3996176"/>
            <a:ext cx="991379" cy="976136"/>
          </a:xfrm>
          <a:prstGeom prst="rect">
            <a:avLst/>
          </a:prstGeom>
        </p:spPr>
      </p:pic>
      <p:pic>
        <p:nvPicPr>
          <p:cNvPr id="37" name="Gráfico 36" descr="Gráfico de barras con tendencia alcista con relleno sólido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26124" y="5031302"/>
            <a:ext cx="976135" cy="976135"/>
          </a:xfrm>
          <a:prstGeom prst="rect">
            <a:avLst/>
          </a:prstGeom>
        </p:spPr>
      </p:pic>
      <p:pic>
        <p:nvPicPr>
          <p:cNvPr id="39" name="Gráfico 38" descr="Apretón de manos con relleno sólido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122542" y="5526933"/>
            <a:ext cx="1449876" cy="1449876"/>
          </a:xfrm>
          <a:prstGeom prst="rect">
            <a:avLst/>
          </a:prstGeom>
        </p:spPr>
      </p:pic>
      <p:sp>
        <p:nvSpPr>
          <p:cNvPr id="40" name="Rectángulo 39"/>
          <p:cNvSpPr/>
          <p:nvPr/>
        </p:nvSpPr>
        <p:spPr>
          <a:xfrm>
            <a:off x="5341488" y="788046"/>
            <a:ext cx="9252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dirty="0">
                <a:solidFill>
                  <a:srgbClr val="FF7900"/>
                </a:solidFill>
              </a:rPr>
              <a:t>07</a:t>
            </a:r>
          </a:p>
        </p:txBody>
      </p:sp>
      <p:sp>
        <p:nvSpPr>
          <p:cNvPr id="41" name="Rectángulo 40"/>
          <p:cNvSpPr/>
          <p:nvPr/>
        </p:nvSpPr>
        <p:spPr>
          <a:xfrm>
            <a:off x="6571247" y="778503"/>
            <a:ext cx="429341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dirty="0">
                <a:solidFill>
                  <a:srgbClr val="FF7900"/>
                </a:solidFill>
              </a:rPr>
              <a:t>Compromiso</a:t>
            </a:r>
          </a:p>
        </p:txBody>
      </p:sp>
      <p:sp>
        <p:nvSpPr>
          <p:cNvPr id="42" name="CuadroTexto 41"/>
          <p:cNvSpPr txBox="1"/>
          <p:nvPr/>
        </p:nvSpPr>
        <p:spPr>
          <a:xfrm>
            <a:off x="6457950" y="1956984"/>
            <a:ext cx="573405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C" sz="2400" dirty="0"/>
              <a:t>Esto no es cualquier plan, es un plan que no solo entrega software, sino que construye un equipo resiliente.</a:t>
            </a:r>
          </a:p>
          <a:p>
            <a:pPr algn="just"/>
            <a:endParaRPr lang="es-EC" sz="2400" dirty="0"/>
          </a:p>
          <a:p>
            <a:pPr algn="just"/>
            <a:r>
              <a:rPr lang="es-EC" sz="2400" dirty="0"/>
              <a:t>Pagos offline activos, equipos alineados y un modelo de escalamiento sostenible para </a:t>
            </a:r>
            <a:r>
              <a:rPr lang="es-EC" sz="2400" b="1" dirty="0" err="1"/>
              <a:t>deuna</a:t>
            </a:r>
            <a:r>
              <a:rPr lang="es-EC" sz="2400" b="1" dirty="0"/>
              <a:t>!</a:t>
            </a:r>
            <a:r>
              <a:rPr lang="es-EC" sz="2400" dirty="0"/>
              <a:t>. En donde yo me comprometo y me responsabilizo por ayudar y facilitar a todo este gran equipo de trabajo</a:t>
            </a:r>
          </a:p>
        </p:txBody>
      </p:sp>
      <p:sp>
        <p:nvSpPr>
          <p:cNvPr id="43" name="Rectángulo 42"/>
          <p:cNvSpPr/>
          <p:nvPr/>
        </p:nvSpPr>
        <p:spPr>
          <a:xfrm>
            <a:off x="4085239" y="5411978"/>
            <a:ext cx="7273725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36" y="2670597"/>
            <a:ext cx="1720683" cy="1720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7" descr="Más beneficios sin ir al banco y sin usar efectivo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2877" y="1982555"/>
            <a:ext cx="2424303" cy="3414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8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0" grpId="1"/>
      <p:bldP spid="41" grpId="0"/>
      <p:bldP spid="41" grpId="1"/>
      <p:bldP spid="42" grpId="0"/>
      <p:bldP spid="42" grpId="1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441</Words>
  <Application>Microsoft Office PowerPoint</Application>
  <PresentationFormat>Panorámica</PresentationFormat>
  <Paragraphs>44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VITERI</dc:creator>
  <cp:lastModifiedBy>KEVIN VITERI</cp:lastModifiedBy>
  <cp:revision>4</cp:revision>
  <dcterms:created xsi:type="dcterms:W3CDTF">2026-01-29T17:01:00Z</dcterms:created>
  <dcterms:modified xsi:type="dcterms:W3CDTF">2026-02-12T02:17:05Z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07D91EA98AC945A0A26E1D9DB53AA91C_13</vt:lpwstr>
  </property>
  <property fmtid="{D5CDD505-2E9C-101B-9397-08002B2CF9AE}" pid="3" name="KSOProductBuildVer">
    <vt:lpwstr>3082-12.2.0.23196</vt:lpwstr>
  </property>
</Properties>
</file>